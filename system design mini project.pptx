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66" r:id="rId2"/>
    <p:sldId id="256" r:id="rId3"/>
    <p:sldId id="257" r:id="rId4"/>
    <p:sldId id="258" r:id="rId5"/>
    <p:sldId id="261" r:id="rId6"/>
    <p:sldId id="259" r:id="rId7"/>
    <p:sldId id="260" r:id="rId8"/>
    <p:sldId id="262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28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681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24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83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79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16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66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41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03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07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457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2844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64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570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178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747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58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980855D-2F72-48B5-93B5-EEB0DEDE40A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21F20-D41A-4BD3-B796-3C135B819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083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word welcome appearing through a torn piece of paper">
            <a:extLst>
              <a:ext uri="{FF2B5EF4-FFF2-40B4-BE49-F238E27FC236}">
                <a16:creationId xmlns:a16="http://schemas.microsoft.com/office/drawing/2014/main" id="{80799F2F-6F2E-E9C0-FB42-3768D69DC0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84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82AE0AE2-7241-E09F-EEF2-80AFBF2F9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980" y="235671"/>
            <a:ext cx="10529455" cy="541698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IN" sz="6700" dirty="0"/>
              <a:t>Project Title:</a:t>
            </a:r>
            <a:br>
              <a:rPr lang="en-US" sz="6700" b="1" dirty="0"/>
            </a:br>
            <a:r>
              <a:rPr lang="en-US" sz="6700" b="1" dirty="0"/>
              <a:t>URL Shortener with Click Analytics (Multi-Region)</a:t>
            </a:r>
            <a:br>
              <a:rPr lang="en-US" sz="6700" dirty="0"/>
            </a:br>
            <a:r>
              <a:rPr lang="en-US" sz="6700" b="1" dirty="0"/>
              <a:t>Presented By:</a:t>
            </a:r>
            <a:r>
              <a:rPr lang="en-US" sz="6700" dirty="0"/>
              <a:t> Basheer Ahmad</a:t>
            </a:r>
            <a:br>
              <a:rPr lang="en-US" sz="6700" dirty="0"/>
            </a:br>
            <a:r>
              <a:rPr lang="en-US" sz="6700" b="1" dirty="0"/>
              <a:t>Subject:</a:t>
            </a:r>
            <a:r>
              <a:rPr lang="en-US" sz="6700" dirty="0"/>
              <a:t> System Design</a:t>
            </a:r>
            <a:endParaRPr lang="en-IN" sz="6700" dirty="0"/>
          </a:p>
        </p:txBody>
      </p:sp>
    </p:spTree>
    <p:extLst>
      <p:ext uri="{BB962C8B-B14F-4D97-AF65-F5344CB8AC3E}">
        <p14:creationId xmlns:p14="http://schemas.microsoft.com/office/powerpoint/2010/main" val="873920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E14D9-B07F-BC0B-1B84-D6C47BA2D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29698"/>
            <a:ext cx="10515600" cy="5009284"/>
          </a:xfrm>
        </p:spPr>
        <p:txBody>
          <a:bodyPr/>
          <a:lstStyle/>
          <a:p>
            <a:r>
              <a:rPr lang="en-IN" b="1" dirty="0"/>
              <a:t>Introduction</a:t>
            </a:r>
          </a:p>
          <a:p>
            <a:r>
              <a:rPr lang="en-IN" dirty="0"/>
              <a:t>A URL shortener converts long links into short, shareable URLs</a:t>
            </a:r>
          </a:p>
          <a:p>
            <a:r>
              <a:rPr lang="en-IN" dirty="0"/>
              <a:t>Used widely in marketing, social media, apps</a:t>
            </a:r>
          </a:p>
          <a:p>
            <a:r>
              <a:rPr lang="en-IN" dirty="0"/>
              <a:t>My project also provides </a:t>
            </a:r>
            <a:r>
              <a:rPr lang="en-IN" b="1" dirty="0"/>
              <a:t>Click Analytics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Click count</a:t>
            </a:r>
          </a:p>
          <a:p>
            <a:pPr lvl="1"/>
            <a:r>
              <a:rPr lang="en-IN" dirty="0"/>
              <a:t>Geo-location</a:t>
            </a:r>
          </a:p>
          <a:p>
            <a:pPr lvl="1"/>
            <a:r>
              <a:rPr lang="en-IN" dirty="0"/>
              <a:t>Device information</a:t>
            </a:r>
          </a:p>
          <a:p>
            <a:pPr lvl="1"/>
            <a:r>
              <a:rPr lang="en-IN" dirty="0"/>
              <a:t>Referrer</a:t>
            </a:r>
          </a:p>
          <a:p>
            <a:r>
              <a:rPr lang="en-IN" dirty="0"/>
              <a:t>Built for </a:t>
            </a:r>
            <a:r>
              <a:rPr lang="en-IN" b="1" dirty="0"/>
              <a:t>global performance</a:t>
            </a:r>
            <a:r>
              <a:rPr lang="en-IN" dirty="0"/>
              <a:t> using Multi-Region design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40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6FA629-602E-70A2-01B6-737504BC5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97188"/>
            <a:ext cx="10515600" cy="6570230"/>
          </a:xfrm>
        </p:spPr>
        <p:txBody>
          <a:bodyPr>
            <a:normAutofit/>
          </a:bodyPr>
          <a:lstStyle/>
          <a:p>
            <a:r>
              <a:rPr lang="en-US" b="1" dirty="0"/>
              <a:t>Requirements Pack :</a:t>
            </a:r>
          </a:p>
          <a:p>
            <a:r>
              <a:rPr lang="en-US" dirty="0"/>
              <a:t>This project aims to build a scalable multi-region URL shortener system.</a:t>
            </a:r>
          </a:p>
          <a:p>
            <a:r>
              <a:rPr lang="en-US" dirty="0"/>
              <a:t>Stakeholders include marketers, developers, end-users, and analytics teams.</a:t>
            </a:r>
          </a:p>
          <a:p>
            <a:r>
              <a:rPr lang="en-US" dirty="0"/>
              <a:t>Marketers need reliable analytics, while developers need strong APIs.</a:t>
            </a:r>
          </a:p>
          <a:p>
            <a:r>
              <a:rPr lang="en-US" dirty="0"/>
              <a:t>End users want fast, always-available short links.</a:t>
            </a:r>
          </a:p>
          <a:p>
            <a:r>
              <a:rPr lang="en-US" dirty="0"/>
              <a:t>Functional requirements include creating, redirecting, and tracking URLs.</a:t>
            </a:r>
          </a:p>
          <a:p>
            <a:r>
              <a:rPr lang="en-US" dirty="0"/>
              <a:t>Non-functional requirements include &lt;50ms redirect latency and 99.99% uptime.</a:t>
            </a:r>
          </a:p>
          <a:p>
            <a:r>
              <a:rPr lang="en-US" dirty="0"/>
              <a:t>Constraints include no ID collisions and efficient handling of global traffic.</a:t>
            </a:r>
          </a:p>
          <a:p>
            <a:r>
              <a:rPr lang="en-US" dirty="0"/>
              <a:t>Assumptions: stable internet, DNS/Anycast usage, scalable cloud infra.</a:t>
            </a:r>
          </a:p>
          <a:p>
            <a:r>
              <a:rPr lang="en-US" dirty="0"/>
              <a:t>Prioritization gives highest weight to performance, availability, analytics accuracy.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59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BE5687-87AD-7580-1836-03C423AD8B37}"/>
              </a:ext>
            </a:extLst>
          </p:cNvPr>
          <p:cNvSpPr txBox="1"/>
          <p:nvPr/>
        </p:nvSpPr>
        <p:spPr>
          <a:xfrm>
            <a:off x="233265" y="267091"/>
            <a:ext cx="168884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Diagram overview:</a:t>
            </a:r>
          </a:p>
          <a:p>
            <a:endParaRPr lang="en-US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7D48CCC-0A72-015C-7EF8-2A6659B63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224" y="267092"/>
            <a:ext cx="6960638" cy="6323818"/>
          </a:xfrm>
        </p:spPr>
      </p:pic>
    </p:spTree>
    <p:extLst>
      <p:ext uri="{BB962C8B-B14F-4D97-AF65-F5344CB8AC3E}">
        <p14:creationId xmlns:p14="http://schemas.microsoft.com/office/powerpoint/2010/main" val="242617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77361-57FD-5B64-8623-8983F48DF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09" y="671078"/>
            <a:ext cx="10515600" cy="5775904"/>
          </a:xfrm>
        </p:spPr>
        <p:txBody>
          <a:bodyPr>
            <a:normAutofit/>
          </a:bodyPr>
          <a:lstStyle/>
          <a:p>
            <a:r>
              <a:rPr lang="en-US" b="1" dirty="0"/>
              <a:t>Diagrams Overview :</a:t>
            </a:r>
          </a:p>
          <a:p>
            <a:r>
              <a:rPr lang="en-US" dirty="0"/>
              <a:t>The project requires multiple architecture and design diagrams.</a:t>
            </a:r>
          </a:p>
          <a:p>
            <a:r>
              <a:rPr lang="en-US" dirty="0"/>
              <a:t>System Context Diagram shows how external actors interact with the system.</a:t>
            </a:r>
          </a:p>
          <a:p>
            <a:r>
              <a:rPr lang="en-US" dirty="0"/>
              <a:t>Use Case Diagram displays all major user functions like create/redirect/stats.</a:t>
            </a:r>
          </a:p>
          <a:p>
            <a:r>
              <a:rPr lang="en-US" dirty="0"/>
              <a:t>User Stories describe actions from the user perspective without technical details.</a:t>
            </a:r>
          </a:p>
          <a:p>
            <a:r>
              <a:rPr lang="en-US" dirty="0"/>
              <a:t>Core Sequence Diagrams show step-by-step URL creation and redirection flows.</a:t>
            </a:r>
          </a:p>
          <a:p>
            <a:r>
              <a:rPr lang="en-US" dirty="0"/>
              <a:t>High-Level Architecture covers services, API gateway, databases, and cache.</a:t>
            </a:r>
          </a:p>
          <a:p>
            <a:r>
              <a:rPr lang="en-US" dirty="0"/>
              <a:t>It also includes message queues, streaming systems, and CDN components.</a:t>
            </a:r>
          </a:p>
          <a:p>
            <a:r>
              <a:rPr lang="en-US" dirty="0"/>
              <a:t>Together, these diagrams provide a complete understanding of the system.</a:t>
            </a:r>
          </a:p>
          <a:p>
            <a:r>
              <a:rPr lang="en-US" dirty="0"/>
              <a:t>They help in communicating design clarity and system interactions.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008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70770E3-266C-ACC9-FA65-AF799DC22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640637"/>
            <a:ext cx="10515600" cy="5442921"/>
          </a:xfrm>
        </p:spPr>
        <p:txBody>
          <a:bodyPr>
            <a:normAutofit/>
          </a:bodyPr>
          <a:lstStyle/>
          <a:p>
            <a:r>
              <a:rPr lang="en-US" b="1" dirty="0"/>
              <a:t>Engineering Notes :</a:t>
            </a:r>
          </a:p>
          <a:p>
            <a:r>
              <a:rPr lang="en-US" dirty="0"/>
              <a:t>Capacity planning estimates millions of clicks and thousands of URL writes.</a:t>
            </a:r>
          </a:p>
          <a:p>
            <a:r>
              <a:rPr lang="en-US" dirty="0"/>
              <a:t>Back-of-envelope sizing defines cache size, DB throughput, and queue load.</a:t>
            </a:r>
          </a:p>
          <a:p>
            <a:r>
              <a:rPr lang="en-US" dirty="0"/>
              <a:t>API specs define Create URL, Redirect URL, and Stats endpoints.</a:t>
            </a:r>
          </a:p>
          <a:p>
            <a:r>
              <a:rPr lang="en-US" dirty="0"/>
              <a:t>Data model includes Links, Click Events, and Aggregated Statistics tables.</a:t>
            </a:r>
          </a:p>
          <a:p>
            <a:r>
              <a:rPr lang="en-US" dirty="0"/>
              <a:t>Consistency choices: strong for redirects, eventual for analytics.</a:t>
            </a:r>
          </a:p>
          <a:p>
            <a:r>
              <a:rPr lang="en-US" dirty="0"/>
              <a:t>Caching uses Redis for hot-URL lookups to reduce latency.</a:t>
            </a:r>
          </a:p>
          <a:p>
            <a:r>
              <a:rPr lang="en-US" dirty="0"/>
              <a:t>Indexing optimizes queries on </a:t>
            </a:r>
            <a:r>
              <a:rPr lang="en-US" dirty="0" err="1"/>
              <a:t>short_id</a:t>
            </a:r>
            <a:r>
              <a:rPr lang="en-US" dirty="0"/>
              <a:t>, timestamps, and referrer fields.</a:t>
            </a:r>
          </a:p>
          <a:p>
            <a:r>
              <a:rPr lang="en-US" dirty="0"/>
              <a:t>Resiliency uses retries, timeouts, load balancers, and circuit breakers.</a:t>
            </a:r>
          </a:p>
          <a:p>
            <a:r>
              <a:rPr lang="en-US" dirty="0"/>
              <a:t>Observability includes logs, metrics, traces, and dashboards for insight.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434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8B5E7-86C5-D1A0-54C1-1C2D09774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6" y="640637"/>
            <a:ext cx="10515600" cy="5750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Quality Targets:</a:t>
            </a:r>
          </a:p>
          <a:p>
            <a:r>
              <a:rPr lang="en-US" dirty="0"/>
              <a:t>Redirect latency target: P95 under 50ms.</a:t>
            </a:r>
          </a:p>
          <a:p>
            <a:r>
              <a:rPr lang="en-US" dirty="0"/>
              <a:t>API latency target under 150ms for URL creation.</a:t>
            </a:r>
          </a:p>
          <a:p>
            <a:r>
              <a:rPr lang="en-US" dirty="0"/>
              <a:t>System availability target is 99.99% globally.</a:t>
            </a:r>
          </a:p>
          <a:p>
            <a:r>
              <a:rPr lang="en-US" dirty="0"/>
              <a:t>Scalability is achieved through sharding and multi-region deployments.</a:t>
            </a:r>
          </a:p>
          <a:p>
            <a:r>
              <a:rPr lang="en-US" dirty="0"/>
              <a:t>Partitioning of analytics data improves query performance.</a:t>
            </a:r>
          </a:p>
          <a:p>
            <a:r>
              <a:rPr lang="en-US" dirty="0"/>
              <a:t>SLOs define clear reliability expectations for each component.</a:t>
            </a:r>
          </a:p>
          <a:p>
            <a:r>
              <a:rPr lang="en-US" dirty="0"/>
              <a:t>SLIs measure redirect time, error rate, and cache hit ratio.</a:t>
            </a:r>
          </a:p>
          <a:p>
            <a:r>
              <a:rPr lang="en-US" dirty="0"/>
              <a:t>Trade-offs include cost vs availability, strong vs eventual consistency.</a:t>
            </a:r>
          </a:p>
          <a:p>
            <a:r>
              <a:rPr lang="en-US" dirty="0"/>
              <a:t>The design prioritizes user experience and operational stability.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499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40221B-CEB8-D81A-B0B1-1A0BCA839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355" y="705952"/>
            <a:ext cx="10515600" cy="5265640"/>
          </a:xfrm>
        </p:spPr>
        <p:txBody>
          <a:bodyPr>
            <a:normAutofit/>
          </a:bodyPr>
          <a:lstStyle/>
          <a:p>
            <a:r>
              <a:rPr lang="en-IN" b="1" dirty="0"/>
              <a:t>Architecture Summary :</a:t>
            </a:r>
          </a:p>
          <a:p>
            <a:r>
              <a:rPr lang="en-IN" dirty="0"/>
              <a:t>System uses microservices: URL Shortener, Redirect Service, Analytics Service.</a:t>
            </a:r>
          </a:p>
          <a:p>
            <a:r>
              <a:rPr lang="en-IN" dirty="0"/>
              <a:t>CDN handles global caching and nearest-region routing.</a:t>
            </a:r>
          </a:p>
          <a:p>
            <a:r>
              <a:rPr lang="en-IN" dirty="0"/>
              <a:t>Redis cache enables quick redirects with minimal DB hits.</a:t>
            </a:r>
          </a:p>
          <a:p>
            <a:r>
              <a:rPr lang="en-IN" dirty="0"/>
              <a:t>NoSQL DB stores mappings and scales horizontally.</a:t>
            </a:r>
          </a:p>
          <a:p>
            <a:r>
              <a:rPr lang="en-IN" dirty="0"/>
              <a:t>Kafka handles high-volume analytics events.</a:t>
            </a:r>
          </a:p>
          <a:p>
            <a:r>
              <a:rPr lang="en-IN" dirty="0"/>
              <a:t>Stream processor enriches click data with geo/device details.</a:t>
            </a:r>
          </a:p>
          <a:p>
            <a:r>
              <a:rPr lang="en-IN" dirty="0"/>
              <a:t>OLAP database supports dashboards and reports.</a:t>
            </a:r>
          </a:p>
          <a:p>
            <a:r>
              <a:rPr lang="en-IN" dirty="0"/>
              <a:t>API gateway secures and routes all user and app traffic.</a:t>
            </a:r>
          </a:p>
          <a:p>
            <a:r>
              <a:rPr lang="en-IN" dirty="0"/>
              <a:t>Overall architecture supports scalability, speed, and global reach.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7878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B4B478-9083-802D-7074-F97F31942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710" y="556661"/>
            <a:ext cx="10515600" cy="5246979"/>
          </a:xfrm>
        </p:spPr>
        <p:txBody>
          <a:bodyPr>
            <a:normAutofit/>
          </a:bodyPr>
          <a:lstStyle/>
          <a:p>
            <a:r>
              <a:rPr lang="en-US" b="1" dirty="0"/>
              <a:t>Conclusion :</a:t>
            </a:r>
          </a:p>
          <a:p>
            <a:r>
              <a:rPr lang="en-US" dirty="0"/>
              <a:t>The system provides fast, reliable URL shortening with real-time analytics.</a:t>
            </a:r>
          </a:p>
          <a:p>
            <a:r>
              <a:rPr lang="en-US" dirty="0"/>
              <a:t>Multi-region deployment ensures users get global low latency.</a:t>
            </a:r>
          </a:p>
          <a:p>
            <a:r>
              <a:rPr lang="en-US" dirty="0"/>
              <a:t>Analytics pipeline gives marketers detailed insights.</a:t>
            </a:r>
          </a:p>
          <a:p>
            <a:r>
              <a:rPr lang="en-US" dirty="0"/>
              <a:t>Scalable architecture supports millions of clicks per day.</a:t>
            </a:r>
          </a:p>
          <a:p>
            <a:r>
              <a:rPr lang="en-US" dirty="0"/>
              <a:t>Strong caching strategy improves speed and reduces DB load.</a:t>
            </a:r>
          </a:p>
          <a:p>
            <a:r>
              <a:rPr lang="en-US" dirty="0"/>
              <a:t>High availability design ensures 99.99% uptime.</a:t>
            </a:r>
          </a:p>
          <a:p>
            <a:r>
              <a:rPr lang="en-US" dirty="0"/>
              <a:t>Event-driven architecture improves throughput and flexibility.</a:t>
            </a:r>
          </a:p>
          <a:p>
            <a:r>
              <a:rPr lang="en-US" dirty="0"/>
              <a:t>This project demonstrates strong system design principles.</a:t>
            </a:r>
          </a:p>
          <a:p>
            <a:r>
              <a:rPr lang="en-US" dirty="0"/>
              <a:t>It is suitable for enterprise-level real-world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181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317ADC-8183-AADA-8672-9CBEF89BE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" y="0"/>
            <a:ext cx="121853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719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</TotalTime>
  <Words>656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PowerPoint Presentation</vt:lpstr>
      <vt:lpstr> Project Title: URL Shortener with Click Analytics (Multi-Region) Presented By: Basheer Ahmad Subject: System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 basheer ahamad</dc:creator>
  <cp:lastModifiedBy>sk basheer ahamad</cp:lastModifiedBy>
  <cp:revision>1</cp:revision>
  <dcterms:created xsi:type="dcterms:W3CDTF">2025-11-19T16:58:46Z</dcterms:created>
  <dcterms:modified xsi:type="dcterms:W3CDTF">2025-11-19T17:23:26Z</dcterms:modified>
</cp:coreProperties>
</file>